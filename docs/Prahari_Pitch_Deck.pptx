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to intervene</c:v>
                </c:pt>
              </c:strCache>
            </c:strRef>
          </c:tx>
          <c:spPr>
            <a:solidFill>
              <a:srgbClr val="3E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Today (post-complaint)</c:v>
                  </c:pt>
                  <c:pt idx="1">
                    <c:v>Prahari (point-of-contact)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</c:v>
                </c:pt>
                <c:pt idx="1">
                  <c:v>0.05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9B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826"/>
        </a:solidFill>
        <a:ln>
          <a:noFill/>
        </a:ln>
        <a:effectLst/>
      </c:spPr>
    </c:plotArea>
    <c:plotVisOnly val="1"/>
    <c:dispBlanksAs val="span"/>
  </c:chart>
  <c:spPr>
    <a:solidFill>
      <a:srgbClr val="12182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8B5CF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572000" cy="4572000"/>
          </a:xfrm>
          <a:prstGeom prst="ellipse">
            <a:avLst/>
          </a:prstGeom>
          <a:solidFill>
            <a:srgbClr val="3EA6FF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1051560" cy="1051560"/>
          </a:xfrm>
          <a:prstGeom prst="roundRect">
            <a:avLst>
              <a:gd name="adj" fmla="val 15652"/>
            </a:avLst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103120" y="1417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121408" y="2331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Sentinel for Digital Public Safety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platform that shifts law enforcement from reactive case investigation to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threat neutralisation — across digital-arrest scams, counterfeit currency,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organised fraud networks.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5120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/ LLM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Fusion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threat is industrialised — and accelerating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4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1.14M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cybercrime complaints in India, 2023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60% vs 2022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4340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₹1,776 Cr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'digital arrest' scams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9 months of 2024 (MHA / I4C)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6676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FICN ₹500 fake-note seizures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6676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Annual Report 2025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hard to stop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6177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cross-border fraud compounds with spoofed numbers, AI-generated voices and fake government portals.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signal domains — communications, financial, physical (counterfeit) and geospatial — are investigated in silos, after the complaint.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capability: intelligence BEFORE mass victimisation, and detection at the point of contact — not the point of complaint.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agentic core. Five fronts in the same war.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Arrest Detection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NLP classifier scores live transcripts against the scam kill-chain; auto-files an MHA alert before money moves.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548640" cy="5486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5780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7-feature banknote forensics across all denominations, with a per-feature 'why-flagged' breakdown for tellers &amp; field officers.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548640" cy="54864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15" name="Text 13"/>
          <p:cNvSpPr/>
          <p:nvPr/>
        </p:nvSpPr>
        <p:spPr>
          <a:xfrm>
            <a:off x="836676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05256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6676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 clusters coordinated campaigns, ranks kingpins, and projects lead-time to mass victimisation.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Geospatial Intelligence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density + patrol-priority queue across cybercrime, FICN seizures and cross-border compounds.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5780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Fraud Shield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Low-false-positive chatbot in 12 languages on WhatsApp/IVR/app, with guided 1930 reporting.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12480" y="4023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 is the product.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412480" y="470916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scammer's number, mule account, voice and location are one entity across all five modules — fused, not filed separately.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— multi-source intelligence fusion</a:t>
            </a:r>
            <a:endParaRPr lang="en-US" sz="2600" dirty="0"/>
          </a:p>
        </p:txBody>
      </p:sp>
      <p:pic>
        <p:nvPicPr>
          <p:cNvPr id="3" name="Image 0" descr="/Users/swapnalatha/Desktop/AI for Digital Public Safety- Defeating Counterfeiting, Fraud &amp; Digital Arrest Scams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005840"/>
            <a:ext cx="8778240" cy="60637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Digital Arrest Detection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model the scam's psychological kill-chain as weighted, explainable signals.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27632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56362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impersonation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31920" y="156362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Inspector Sharma, CBI"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221992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340864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3408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22768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case / parcel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3192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"parcel with drugs, Aadhaar misused"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35224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0540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990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+ secrecy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931920" y="29900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tell anyone"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48456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767328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767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3703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arrest / video custody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931920" y="37033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"stay on this video call"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361688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480560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34440" y="44165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 verification transfer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931920" y="441655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"transfer to RBI verified account"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12280" y="1508760"/>
            <a:ext cx="4800600" cy="3703320"/>
          </a:xfrm>
          <a:prstGeom prst="roundRect">
            <a:avLst>
              <a:gd name="adj" fmla="val 1975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040880" y="1691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= verdict + evidence + action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040880" y="21945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risk score 0–100 with SAFE / SUSPICIOUS / HIGH-RISK / ACTIVE-SCAM bands.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matched phrase — a glass-box, auditable evidence trail.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call metadata: VoIP, caller-ID spoofing, AI-voice, number rotation.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ACTIVE-SCAM: holds the transfer &amp; auto-files a SHA-256 tamper-evident MHA / I4C alert — before money moves.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keeps legitimate bank calls at SAFE (low false positives).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Counterfeit forensics + Fraud graph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security features, per-note, explainable: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32257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40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 ratio / dimensions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66090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colour match (RBI spec)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0815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Microprint / intaglio sharpness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584448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5021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Security-thread signature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4005072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92277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Intaglio print texture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42569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3434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serial-number grammar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484632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76402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fluorescence (device sensor)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on mobile, bank counting machines and POS terminals.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128016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92240" y="14630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19202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Connected-component clustering → distinct campaigns / rings.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Centrality (degree + betweenness) → kingpin / aggregator accounts.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Mule-chain tracing: victim → mule → aggregator → cash-out.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Lead-time KPI: victims/day velocity → projected days to 100 victims — the early-warning metric.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SHA-256 hashed &amp; timestamped for court admissibility.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580376" y="5020056"/>
            <a:ext cx="822960" cy="-36576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03336" y="4654296"/>
            <a:ext cx="822960" cy="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26296" y="5020056"/>
            <a:ext cx="822960" cy="-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0376" y="5020056"/>
            <a:ext cx="822960" cy="32004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98080" y="493776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21040" y="457200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4000" y="493776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1" name="Shape 29"/>
          <p:cNvSpPr/>
          <p:nvPr/>
        </p:nvSpPr>
        <p:spPr>
          <a:xfrm>
            <a:off x="9966960" y="4572000"/>
            <a:ext cx="201168" cy="201168"/>
          </a:xfrm>
          <a:prstGeom prst="ellipse">
            <a:avLst/>
          </a:prstGeom>
          <a:solidFill>
            <a:srgbClr val="FF2D95"/>
          </a:solidFill>
          <a:ln/>
        </p:spPr>
      </p:sp>
      <p:sp>
        <p:nvSpPr>
          <p:cNvPr id="32" name="Shape 30"/>
          <p:cNvSpPr/>
          <p:nvPr/>
        </p:nvSpPr>
        <p:spPr>
          <a:xfrm>
            <a:off x="8321040" y="525780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Prahari wins where point-tools fail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11480" cy="41148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57276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 by design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9385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 scoring + SHA-256 evidence hashes → court-admissible, not a black box.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651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low false positives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3017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+ explainable signals; legit calls score SAFE.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21024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895344"/>
            <a:ext cx="411480" cy="4114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37307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lead-time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09651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days-to-mass-victimisation, enabling pre-emptive disruption.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700016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974336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480974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Convergence, not silos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17550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entity graph across calls, money, notes &amp; geography.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29400" y="1463040"/>
            <a:ext cx="4983480" cy="4251960"/>
          </a:xfrm>
          <a:prstGeom prst="roundRect">
            <a:avLst>
              <a:gd name="adj" fmla="val 172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0" y="16276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Reactive complaint flow vs. Prahari</a:t>
            </a:r>
            <a:endParaRPr lang="en-US" sz="1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766560" y="2103120"/>
          <a:ext cx="46634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performance — not just a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classifier benchmarked live against realistic scam + benign messages (incl. hard negatives). Computed on every run — nothing pre-baked.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8892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8892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97.1%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98.5%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26948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97.9%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6948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976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0976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50976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486400" cy="2514600"/>
          </a:xfrm>
          <a:prstGeom prst="roundRect">
            <a:avLst>
              <a:gd name="adj" fmla="val 290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40156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Confusion matrix (96 messages · 13 scam categories)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388620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SCAM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BENIGN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2880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SCAM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9476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BENIGN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82880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79476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79476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82880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82880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79476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79476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263640" y="3246120"/>
            <a:ext cx="5349240" cy="2514600"/>
          </a:xfrm>
          <a:prstGeom prst="roundRect">
            <a:avLst>
              <a:gd name="adj" fmla="val 290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92240" y="34015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38404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false positives on benign traffic — the evaluation's hardest bar for a citizen-facing tool.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7 scam families, not just digital-arrest.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misses are deliberately vague messages — shown openly, no cherry-picking.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real data: 0.10% false-positive rate on 4,827 genuine SMS (UCI corpus).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Glass-box: every score traces to a matched phrase (court-admissible).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Counterfeit agent:  </a:t>
            </a:r>
            <a:pPr algn="ctr"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genuine-acceptance · 0% false-rejection across all 6 denominations (12 genuine RBI notes) · synthetic fake detected.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alignment to judging criteria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(25%)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11480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Kill-chain scam modelling + lead-time KPI + cross-domain entity fusion.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042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304288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 (25%)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114800" y="2304288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 ₹1,776 Cr/yr loss vector; protects banks, telcos, citizens &amp; courts.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4553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145536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Excellence (20%)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114800" y="3145536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AI, image forensics, explainable NLP, geospatial — in one API.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86784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986784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 (15%)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114800" y="3986784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services; add scam templates without retraining; per-module scale-out.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828032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828032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Experience (15%)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114800" y="482803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Command-centre dashboard + 12-language citizen chatbot on WhatsApp/IVR/app.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today · production tomorrow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645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prototype (this build)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backend, 5 live modules, one command-centre UI.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scam scorer (12 categories) with exact per-signal attribution.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9-feature note forensics across ₹10–₹2000, calibrated on genuine notes.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Indian-context graph (UPI/wallet/crypto) + modularity community detection + lead-time.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NCRB state cybercrime data on the geospatial layer.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OCR screenshot intake + 12-language citizen chatbot.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hash-chained audit ledger for admissibility.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roadmap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214884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heuristics for fine-tuned models: transformer scam classifier, CNN/ViT per security ROI.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Speech-AI front-end for live synthetic-voice detection.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IndicTrans + LLM for full 12-language NLG.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connectors: TSP CDR, NPCI/UPI, bank STR, NCRP/1930, I4C.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tokenisation at ingest; signed append-only audit ledger.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3EA6FF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point of complaint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point of contact.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— detect, disrupt, and neutralise digital fraud before mass victimisation.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the prototype:  ./run.sh  →  http://127.0.0.1:8008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Prahari — Digital Public Safety Intelligence</dc:title>
  <dc:subject>PptxGenJS Presentation</dc:subject>
  <dc:creator>Team Prahari</dc:creator>
  <cp:lastModifiedBy>Team Prahari</cp:lastModifiedBy>
  <cp:revision>1</cp:revision>
  <dcterms:created xsi:type="dcterms:W3CDTF">2026-06-25T16:51:00Z</dcterms:created>
  <dcterms:modified xsi:type="dcterms:W3CDTF">2026-06-25T16:51:00Z</dcterms:modified>
</cp:coreProperties>
</file>