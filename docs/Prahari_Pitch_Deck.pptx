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to intervene</c:v>
                </c:pt>
              </c:strCache>
            </c:strRef>
          </c:tx>
          <c:spPr>
            <a:solidFill>
              <a:srgbClr val="3E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 (post-complaint)</c:v>
                  </c:pt>
                  <c:pt idx="1">
                    <c:v>Prahari (point-of-contact)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6"/>
        </a:solidFill>
        <a:ln>
          <a:noFill/>
        </a:ln>
        <a:effectLst/>
      </c:spPr>
    </c:plotArea>
    <c:plotVisOnly val="1"/>
    <c:dispBlanksAs val="span"/>
  </c:chart>
  <c:spPr>
    <a:solidFill>
      <a:srgbClr val="1218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3EA6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3EA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प्र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21408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Sentinel for Digital Public Safety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platform that shifts law enforcement from reactive case investigation to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neutralisation — across digital-arrest scams, counterfeit currency,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organised fraud networks.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AI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Fusion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is industrialised — and accelerating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₹22,845 Cr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cybercrime in 2024 — 22.68 lakh complaints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42% YoY (I4C / MHA, 2024)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₹1,935 Cr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'digital arrest' scams in 2024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 the 2022 figure (MHA / I4C)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1.42 lakh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6676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₹500 notes detected in FY26 (+20.5%)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 caught by banks, not RBI (RBI FY26)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hard to stop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cross-border fraud compounds with spoofed numbers, AI-generated voices and fake government portals.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 domains — communications, financial, physical (counterfeit) and geospatial — are investigated in silos, after the complaint.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capability: intelligence BEFORE mass victimisation, and detection at the point of contact — not the point of complaint.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agentic core. Five fronts in the same war.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Arrest Detection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NLP classifier scores live transcripts against the scam kill-chain; auto-files an MHA alert before money moves.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 Agent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7-feature banknote forensics across all denominations, with a per-feature 'why-flagged' breakdown for tellers &amp; field officers.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Network Graph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AI clusters coordinated campaigns, ranks kingpins, and projects lead-time to mass victimisation.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Intelligence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density + patrol-priority queue across cybercrime, FICN seizures and cross-border compounds.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97764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57800" y="4005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Fraud Shield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4663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Low-false-positive chatbot in 12 languages on WhatsApp/IVR/app, with guided 1930 reporting.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is the product.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scammer's number, mule account, voice and location are one entity across all five modules — fused, not filed separately.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multi-source intelligence fusion</a:t>
            </a:r>
            <a:endParaRPr lang="en-US" sz="2600" dirty="0"/>
          </a:p>
        </p:txBody>
      </p:sp>
      <p:pic>
        <p:nvPicPr>
          <p:cNvPr id="3" name="Image 0" descr="/Users/swapnalatha/Desktop/AI for Digital Public Safety- Defeating Counterfeiting, Fraud &amp; Digital Arrest Scams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005840"/>
            <a:ext cx="8778240" cy="60637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 · Digital Arrest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the scam's psychological kill-chain as weighted, explainable signals.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636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15636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Inspector Sharma, CBI"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40864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case / parcel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22768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"parcel with drugs, Aadhaar misused"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990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+ secrecy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31920" y="29900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tell anyone"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767328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/ video custody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3192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"stay on this video call"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61688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480560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165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/ verification transfer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31920" y="4416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"transfer to RBI verified account"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1508760"/>
            <a:ext cx="4800600" cy="3703320"/>
          </a:xfrm>
          <a:prstGeom prst="roundRect">
            <a:avLst>
              <a:gd name="adj" fmla="val 1975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4088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= verdict + evidence + action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40880" y="21945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score 0–100 with SAFE / SUSPICIOUS / HIGH-RISK / ACTIVE-SCAM bands.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traces to a matched phrase — a glass-box, auditable evidence trail.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call metadata: VoIP, caller-ID spoofing, AI-voice, number rotation.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ACTIVE-SCAM: holds the transfer &amp; auto-files a SHA-256 tamper-evident MHA / I4C alert — before money moves.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Negative-suppression keeps legitimate bank calls at SAFE (low false positives).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 · Counterfeit forensics + Fraud graph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security features, per-note, explainable: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22576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/ dimensions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609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colour match (RBI spec)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81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/ intaglio sharpness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02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Security-thread signature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05072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227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Intaglio print texture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425696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serial-number grammar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764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fluorescence (device sensor)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mobile, bank counting machines and POS terminals.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801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Network 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 clustering → distinct campaigns / rings.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(degree + betweenness) → kingpin / aggregator accounts.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Mule-chain tracing: victim → mule → aggregator → cash-out.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KPI: victims/day velocity → projected days to 100 victims — the early-warning metric.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package is SHA-256 hashed &amp; timestamped for court admissibility.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0376" y="5020056"/>
            <a:ext cx="822960" cy="-365760"/>
          </a:xfrm>
          <a:prstGeom prst="line">
            <a:avLst/>
          </a:prstGeom>
          <a:noFill/>
          <a:ln w="19050">
            <a:solidFill>
              <a:srgbClr val="1F2A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3336" y="4654296"/>
            <a:ext cx="822960" cy="365760"/>
          </a:xfrm>
          <a:prstGeom prst="line">
            <a:avLst/>
          </a:prstGeom>
          <a:noFill/>
          <a:ln w="25400">
            <a:solidFill>
              <a:srgbClr val="FF4D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6296" y="5020056"/>
            <a:ext cx="822960" cy="-365760"/>
          </a:xfrm>
          <a:prstGeom prst="line">
            <a:avLst/>
          </a:prstGeom>
          <a:noFill/>
          <a:ln w="25400">
            <a:solidFill>
              <a:srgbClr val="FF4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0376" y="5020056"/>
            <a:ext cx="822960" cy="320040"/>
          </a:xfrm>
          <a:prstGeom prst="line">
            <a:avLst/>
          </a:prstGeom>
          <a:noFill/>
          <a:ln w="19050">
            <a:solidFill>
              <a:srgbClr val="1F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937760"/>
            <a:ext cx="201168" cy="201168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4572000"/>
            <a:ext cx="201168" cy="201168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0" y="4937760"/>
            <a:ext cx="201168" cy="201168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31" name="Shape 29"/>
          <p:cNvSpPr/>
          <p:nvPr/>
        </p:nvSpPr>
        <p:spPr>
          <a:xfrm>
            <a:off x="9966960" y="4572000"/>
            <a:ext cx="201168" cy="201168"/>
          </a:xfrm>
          <a:prstGeom prst="ellipse">
            <a:avLst/>
          </a:prstGeom>
          <a:solidFill>
            <a:srgbClr val="FF2D95"/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5257800"/>
            <a:ext cx="201168" cy="201168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Prahari wins where point-tools fail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Glass-box scoring + SHA-256 evidence hashes → court-admissible, not a black box.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low false positives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Negative-suppression + explainable signals; legit calls score SAFE.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895344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30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lead-time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0965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days-to-mass-victimisation, enabling pre-emptive disruption.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974336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8097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Convergence, not silos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755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graph across calls, money, notes &amp; geography.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4983480" cy="4251960"/>
          </a:xfrm>
          <a:prstGeom prst="roundRect">
            <a:avLst>
              <a:gd name="adj" fmla="val 172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complaint flow vs. Prahari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766560" y="2103120"/>
          <a:ext cx="4663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performance — not just a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classifier benchmarked live against realistic scam + benign messages (incl. hard negatives). Computed on every run — nothing pre-baked.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8892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783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783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948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1783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6948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0976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0" y="1783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0976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4015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(96 messages · 13 scam categories)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BENIGN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SCAM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9476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BENIGN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0" y="3886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2880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 </a:t>
            </a:r>
            <a:pPr algn="ctr"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94760" y="3886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9476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828800" y="4846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0" y="4846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pPr algn="ctr"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94760" y="4846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94760" y="4846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</a:t>
            </a:r>
            <a:pPr algn="ctr"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63640" y="324612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prove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0" y="3840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 on benign traffic — the evaluation's hardest bar for a citizen-facing tool.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7 scam families, not just digital-arrest.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misses are deliberately vague messages — shown openly, no cherry-picking.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India UPI fraud data: 1,000 cases (₹1.59 cr) by type / lure / app / state.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Glass-box: every score traces to a matched phrase (court-admissible).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agent:  </a:t>
            </a:r>
            <a:pPr algn="ctr"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genuine-acceptance · 0% false-rejection across all 6 denominations (12 genuine RBI notes) · synthetic fake detected.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alignment to judging criteria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(25%)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417320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Kill-chain scam modelling + lead-time KPI + cross-domain entity fusion.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0370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(25%)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203704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₹22,845 Cr/yr cybercrime loss vector; protects banks, telcos, citizens &amp; courts.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900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 (20%)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990088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AI, image forensics, explainable NLP, geospatial — in one API.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7764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(15%)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776472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services; add scam templates without retraining; per-module scale-out.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5628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 (15%)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562856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Command-centre dashboard + citizen chatbot (12-language interface, verdicts localised in 5 today).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0F2A1C"/>
          </a:solidFill>
          <a:ln w="12700">
            <a:solidFill>
              <a:srgbClr val="1F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53212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ROI:  </a:t>
            </a:r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1930-helpline scale (22.68 lakh complaints/yr), a 10% pre-transfer interception rate saves </a:t>
            </a:r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₹2,284 Cr every year</a:t>
            </a:r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today · production tomorrow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 (this build)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5 live modules, one command-centre UI.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scam scorer (12 categories) with exact per-signal attribution.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9-feature note forensics across ₹10–₹2000, calibrated on genuine notes.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Indian-context graph (UPI/wallet/crypto) + modularity community detection + lead-time.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NCRB state cybercrime data on the geospatial layer.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 screenshot intake + 12-language citizen chatbot.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hash-chained audit ledger for admissibility.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heuristics for fine-tuned models: transformer scam classifier, CNN/ViT per security ROI.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Speech-AI front-end for live synthetic-voice detection.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 + LLM for full 12-language NLG.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connectors: TSP CDR, NPCI/UPI, bank STR, NCRP/1930, I4C.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tokenisation at ingest; signed append-only audit ledger.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3EA6FF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point of complaint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point of contact.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— detect, disrupt, and neutralise digital fraud before mass victimisation.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prototype:  ./run.sh  →  http://127.0.0.1:8008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— Digital Public Safety Intelligence</dc:title>
  <dc:subject>PptxGenJS Presentation</dc:subject>
  <dc:creator>Team Prahari</dc:creator>
  <cp:lastModifiedBy>Team Prahari</cp:lastModifiedBy>
  <cp:revision>1</cp:revision>
  <dcterms:created xsi:type="dcterms:W3CDTF">2026-06-30T18:02:40Z</dcterms:created>
  <dcterms:modified xsi:type="dcterms:W3CDTF">2026-06-30T18:02:40Z</dcterms:modified>
</cp:coreProperties>
</file>