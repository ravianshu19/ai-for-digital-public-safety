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9EEF7"/>
                </a:solidFill>
                <a:latin typeface="Segoe UI"/>
              </a:defRPr>
            </a:pPr>
            <a:r>
              <a:rPr sz="1200" b="0" i="0" u="none" strike="noStrike">
                <a:solidFill>
                  <a:srgbClr val="E9EEF7"/>
                </a:solidFill>
                <a:latin typeface="Segoe UI"/>
              </a:rPr>
              <a:t>Top states — real NCRB cybercrime cases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Cyber cases (2022)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E9EEF7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Tamil Nadu</c:v>
                  </c:pt>
                  <c:pt idx="1">
                    <c:v>Andhra Pr.</c:v>
                  </c:pt>
                  <c:pt idx="2">
                    <c:v>Maharashtra</c:v>
                  </c:pt>
                  <c:pt idx="3">
                    <c:v>Uttar Pradesh</c:v>
                  </c:pt>
                  <c:pt idx="4">
                    <c:v>Karnataka</c:v>
                  </c:pt>
                  <c:pt idx="5">
                    <c:v>Telangana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2082</c:v>
                </c:pt>
                <c:pt idx="1">
                  <c:v>2341</c:v>
                </c:pt>
                <c:pt idx="2">
                  <c:v>8249</c:v>
                </c:pt>
                <c:pt idx="3">
                  <c:v>10117</c:v>
                </c:pt>
                <c:pt idx="4">
                  <c:v>12556</c:v>
                </c:pt>
                <c:pt idx="5">
                  <c:v>15297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E9EEF7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1B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C2E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In-house benchmark</c:v>
                </c:pt>
              </c:strCache>
            </c:strRef>
          </c:tx>
          <c:spPr>
            <a:solidFill>
              <a:srgbClr val="2ECC7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9EEF7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</c:v>
                  </c:pt>
                  <c:pt idx="1">
                    <c:v>Recall</c:v>
                  </c:pt>
                  <c:pt idx="2">
                    <c:v>F1</c:v>
                  </c:pt>
                  <c:pt idx="3">
                    <c:v>Accuracy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Held-out (real cases)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9EEF7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</c:v>
                  </c:pt>
                  <c:pt idx="1">
                    <c:v>Recall</c:v>
                  </c:pt>
                  <c:pt idx="2">
                    <c:v>F1</c:v>
                  </c:pt>
                  <c:pt idx="3">
                    <c:v>Accuracy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91.7</c:v>
                </c:pt>
                <c:pt idx="2">
                  <c:v>91.7</c:v>
                </c:pt>
                <c:pt idx="3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E9EEF7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1B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F1B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93A1BA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6400800" cy="6400800"/>
          </a:xfrm>
          <a:prstGeom prst="ellipse">
            <a:avLst/>
          </a:prstGeom>
          <a:solidFill>
            <a:srgbClr val="3EA6F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20870"/>
            </a:avLst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63040"/>
            <a:ext cx="1051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प्र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148840" y="13716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PRAHARI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2194560" y="248716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Public Safety Intelligence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94560" y="3200400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Catching digital fraud at the point of contact — not the point of complaint.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94560" y="4206240"/>
            <a:ext cx="1605686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4233672"/>
            <a:ext cx="160568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Digital-Arrest NLP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64838" y="4206240"/>
            <a:ext cx="1305763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64838" y="4233672"/>
            <a:ext cx="130576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Counterfeit CV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35194" y="4206240"/>
            <a:ext cx="1305763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35194" y="4233672"/>
            <a:ext cx="130576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Fraud Graph AI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905549" y="42062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5549" y="423367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Geospatial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75981" y="4206240"/>
            <a:ext cx="1305763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75981" y="4233672"/>
            <a:ext cx="130576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Shield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546336" y="4206240"/>
            <a:ext cx="1305763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46336" y="4233672"/>
            <a:ext cx="1305763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Fusion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for Digital Public Safety — Defeating Counterfeiting, Fraud &amp; Digital Arrest Scams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 is timing, not evidence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80744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4D5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₹22,845 Cr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207568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 to cybercrime in 2024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380744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22.68 lakh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91840" y="207568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complaints · +42% YoY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380744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2D9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₹1,935 Cr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080760" y="207568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digital-arrest scams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86968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0" y="1380744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1.42 lakh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869680" y="207568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fake ₹500 notes (RBI FY26)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141C2E"/>
          </a:solidFill>
          <a:ln w="12700">
            <a:solidFill>
              <a:srgbClr val="FF4D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299923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4D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Today’s systems act at the POINT OF COMPLAINT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77240" y="34290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after the money has already left the account. Digital-arrest gangs run industrialised operations from fraud compounds, using spoofed numbers, AI-cloned voices and fake government portals to hold victims in multi-day custody over video call.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452628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690872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acts at the POINT OF CONTACT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" y="5120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flags the active scam session while the call is still live, before a single rupee moves — and packages the evidence so it stands up in court. One platform fuses financial, communication, physical and geospatial intelligence.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platform · six intelligence modules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0876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FF4D5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8191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63040" y="15544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Digital Arrest Detection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NLP scores the 5-step scam kill-chain, phrase by phrase.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9392" y="12801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07992" y="150876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F5A623"/>
          </a:solidFill>
          <a:ln/>
        </p:spPr>
      </p:sp>
      <p:sp>
        <p:nvSpPr>
          <p:cNvPr id="12" name="Text 10"/>
          <p:cNvSpPr/>
          <p:nvPr/>
        </p:nvSpPr>
        <p:spPr>
          <a:xfrm>
            <a:off x="4507992" y="158191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239512" y="15544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Counterfeit Currency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07992" y="22402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9-feature CV forensics + OCR denomination gate, ₹10–₹2000.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55864" y="128016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84464" y="150876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8284464" y="158191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15984" y="15544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Fraud Network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84464" y="22402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AI clusters gangs, names the ringleader, projects lead-time.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118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8404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3EA6FF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91363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63040" y="38862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Geospatial Intelligence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" y="45720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NCRB data → ranked patrol-priority command centre.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79392" y="36118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07992" y="38404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2ECC71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391363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239512" y="38862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Citizen Fraud Shield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45720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assistant + Live Call Guard + guided 1930 report.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55864" y="36118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84464" y="3840480"/>
            <a:ext cx="566928" cy="566928"/>
          </a:xfrm>
          <a:prstGeom prst="roundRect">
            <a:avLst>
              <a:gd name="adj" fmla="val 22581"/>
            </a:avLst>
          </a:prstGeom>
          <a:solidFill>
            <a:srgbClr val="FF2D95"/>
          </a:solidFill>
          <a:ln/>
        </p:spPr>
      </p:sp>
      <p:sp>
        <p:nvSpPr>
          <p:cNvPr id="32" name="Text 30"/>
          <p:cNvSpPr/>
          <p:nvPr/>
        </p:nvSpPr>
        <p:spPr>
          <a:xfrm>
            <a:off x="8284464" y="391363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9015984" y="388620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Intelligence Fusion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284464" y="45720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layer chains every module on one case in milliseconds.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Architecture — a glass-box core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1907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/ message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37744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54203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Banknote photo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41C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36499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 &amp; metadata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920240" cy="658368"/>
          </a:xfrm>
          <a:prstGeom prst="roundRect">
            <a:avLst>
              <a:gd name="adj" fmla="val 12500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41879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chat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88920" y="1417320"/>
            <a:ext cx="2880360" cy="2651760"/>
          </a:xfrm>
          <a:prstGeom prst="roundRect">
            <a:avLst>
              <a:gd name="adj" fmla="val 3448"/>
            </a:avLst>
          </a:prstGeom>
          <a:solidFill>
            <a:srgbClr val="0F1626"/>
          </a:solidFill>
          <a:ln w="15240">
            <a:solidFill>
              <a:srgbClr val="3E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88920" y="1527048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EA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DETECTION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88920" y="1874520"/>
            <a:ext cx="2880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NLP kill-chain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CV counterfeit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screen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Phishing links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897880" y="1417320"/>
            <a:ext cx="2743200" cy="2651760"/>
          </a:xfrm>
          <a:prstGeom prst="roundRect">
            <a:avLst>
              <a:gd name="adj" fmla="val 3448"/>
            </a:avLst>
          </a:prstGeom>
          <a:solidFill>
            <a:srgbClr val="0F1626"/>
          </a:solidFill>
          <a:ln w="1524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1527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INTELLIGENCE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97880" y="1874520"/>
            <a:ext cx="27432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Fraud graph AI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Geospatial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UPI patterns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869680" y="1417320"/>
            <a:ext cx="2788920" cy="2651760"/>
          </a:xfrm>
          <a:prstGeom prst="roundRect">
            <a:avLst>
              <a:gd name="adj" fmla="val 3448"/>
            </a:avLst>
          </a:prstGeom>
          <a:solidFill>
            <a:srgbClr val="0F1626"/>
          </a:solidFill>
          <a:ln w="15240">
            <a:solidFill>
              <a:srgbClr val="2ECC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527048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FUSION &amp; TRUST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69680" y="1874520"/>
            <a:ext cx="27889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orchestration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 ledger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LLM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2743200"/>
            <a:ext cx="274320" cy="0"/>
          </a:xfrm>
          <a:prstGeom prst="line">
            <a:avLst/>
          </a:prstGeom>
          <a:noFill/>
          <a:ln w="19050">
            <a:solidFill>
              <a:srgbClr val="5C6B85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5715000" y="2743200"/>
            <a:ext cx="137160" cy="0"/>
          </a:xfrm>
          <a:prstGeom prst="line">
            <a:avLst/>
          </a:prstGeom>
          <a:noFill/>
          <a:ln w="19050">
            <a:solidFill>
              <a:srgbClr val="5C6B85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8686800" y="2743200"/>
            <a:ext cx="137160" cy="0"/>
          </a:xfrm>
          <a:prstGeom prst="line">
            <a:avLst/>
          </a:prstGeom>
          <a:noFill/>
          <a:ln w="19050">
            <a:solidFill>
              <a:srgbClr val="5C6B85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2788920" y="4343400"/>
            <a:ext cx="7498080" cy="1051560"/>
          </a:xfrm>
          <a:prstGeom prst="roundRect">
            <a:avLst>
              <a:gd name="adj" fmla="val 8696"/>
            </a:avLst>
          </a:prstGeom>
          <a:solidFill>
            <a:srgbClr val="141C2E"/>
          </a:solidFill>
          <a:ln w="12700">
            <a:solidFill>
              <a:srgbClr val="FF2D9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88920" y="44805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2D9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OUTPUT  ·  Court-ready intelligence package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788920" y="489204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verdict + evidence trail + MHA/I4C alert + tamper-evident ledger entry  →  1930 · cybercrime.gov.in · TSP · banks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Vanilla JS dashboard · FastAPI · runs fully offline · Docker · stateless &amp; horizontally scalable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2ECC7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rule-based first is a feature, not a shortcut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11155680" cy="1965960"/>
          </a:xfrm>
          <a:prstGeom prst="roundRect">
            <a:avLst>
              <a:gd name="adj" fmla="val 4651"/>
            </a:avLst>
          </a:prstGeom>
          <a:solidFill>
            <a:srgbClr val="141C2E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“Why was this flagged?” — Prahari answers with the exact phrase.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packages must be legally admissible. A glass-box engine is the verdict-of-record because a judge or defence counsel can demand a phrase-level explanation — which a black-box transformer cannot give without a separate explainability layer. This turns our single biggest technical risk into a court-admissibility strength — itself one of the challenge’s five evaluation criteria.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3520440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0F1626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4845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Auditable core (verdict of record)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0" y="3666744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rule/feature engine · every point traces to a matched phrase · hash-chained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4480560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0F1626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0857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3EA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Pattern layer (enrichment)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4626864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LLM second-opinion · obfuscation normaliser · phishing link analysis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5440680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0F162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556869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Roadmap (on top, not instead)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5586984"/>
            <a:ext cx="6492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CNN/ViT per security ROI · trained ASVspoof voice · deepfake CNN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FF4D57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Digital Arrest Detection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scam follows the same 5-step script — Prahari scores each step: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837944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Pretends to be police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386584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8803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935224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2926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‘Don’t tell anyone’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4290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3483864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51560" y="3474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‘Digital arrest’ on video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776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032504"/>
            <a:ext cx="38404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 for money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470916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17 scam families beyond digital-arrest (OTP, KYC, lottery, sextortion, SIM-swap…)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Obfuscation normaliser defeats leetspeak / homoglyph evasion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Native Hindi (Devanagari) patterns — Hindi input detected too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Auto-generates a tamper-evident MHA / I4C alert before money moves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63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VERDICT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12280" y="1920240"/>
            <a:ext cx="1371600" cy="1371600"/>
          </a:xfrm>
          <a:prstGeom prst="ellipse">
            <a:avLst/>
          </a:prstGeom>
          <a:solidFill>
            <a:srgbClr val="24304A"/>
          </a:solidFill>
          <a:ln/>
        </p:spPr>
      </p:sp>
      <p:sp>
        <p:nvSpPr>
          <p:cNvPr id="25" name="Shape 23"/>
          <p:cNvSpPr/>
          <p:nvPr/>
        </p:nvSpPr>
        <p:spPr>
          <a:xfrm>
            <a:off x="6922008" y="2029968"/>
            <a:ext cx="1152144" cy="1152144"/>
          </a:xfrm>
          <a:prstGeom prst="ellipse">
            <a:avLst/>
          </a:prstGeom>
          <a:solidFill>
            <a:srgbClr val="0A0F1B"/>
          </a:solidFill>
          <a:ln/>
        </p:spPr>
      </p:sp>
      <p:sp>
        <p:nvSpPr>
          <p:cNvPr id="26" name="Shape 24"/>
          <p:cNvSpPr/>
          <p:nvPr/>
        </p:nvSpPr>
        <p:spPr>
          <a:xfrm>
            <a:off x="6812280" y="1920240"/>
            <a:ext cx="1371600" cy="1371600"/>
          </a:xfrm>
          <a:prstGeom prst="pie">
            <a:avLst>
              <a:gd name="adj1" fmla="val 0"/>
              <a:gd name="adj2" fmla="val 20520000"/>
            </a:avLst>
          </a:prstGeom>
          <a:solidFill>
            <a:srgbClr val="FF4D57"/>
          </a:solidFill>
          <a:ln/>
        </p:spPr>
      </p:sp>
      <p:sp>
        <p:nvSpPr>
          <p:cNvPr id="27" name="Shape 25"/>
          <p:cNvSpPr/>
          <p:nvPr/>
        </p:nvSpPr>
        <p:spPr>
          <a:xfrm>
            <a:off x="6958584" y="2066544"/>
            <a:ext cx="1078992" cy="1078992"/>
          </a:xfrm>
          <a:prstGeom prst="ellipse">
            <a:avLst/>
          </a:prstGeom>
          <a:solidFill>
            <a:srgbClr val="0A0F1B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2404872"/>
            <a:ext cx="137160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4D5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95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412480" y="21945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4D5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ACTIVE SCAM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412480" y="2743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Kill-chain reached: 4. 'Digital arrest'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0" y="3520440"/>
            <a:ext cx="4892040" cy="402336"/>
          </a:xfrm>
          <a:prstGeom prst="roundRect">
            <a:avLst>
              <a:gd name="adj" fmla="val 13636"/>
            </a:avLst>
          </a:prstGeom>
          <a:solidFill>
            <a:srgbClr val="0F1626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3602736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⚑  1. Authority impersonation — “cbi”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583680" y="3995928"/>
            <a:ext cx="4892040" cy="402336"/>
          </a:xfrm>
          <a:prstGeom prst="roundRect">
            <a:avLst>
              <a:gd name="adj" fmla="val 13636"/>
            </a:avLst>
          </a:prstGeom>
          <a:solidFill>
            <a:srgbClr val="0F1626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20840" y="4078224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⚑  2. Fabricated case — “parcel … seized”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583680" y="4471416"/>
            <a:ext cx="4892040" cy="402336"/>
          </a:xfrm>
          <a:prstGeom prst="roundRect">
            <a:avLst>
              <a:gd name="adj" fmla="val 13636"/>
            </a:avLst>
          </a:prstGeom>
          <a:solidFill>
            <a:srgbClr val="0F1626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20840" y="4553712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⚑  3. Isolation — “do not tell anyone”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583680" y="4946904"/>
            <a:ext cx="4892040" cy="402336"/>
          </a:xfrm>
          <a:prstGeom prst="roundRect">
            <a:avLst>
              <a:gd name="adj" fmla="val 13636"/>
            </a:avLst>
          </a:prstGeom>
          <a:solidFill>
            <a:srgbClr val="0F1626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20840" y="50292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⚑  4. Digital arrest — “digital arrest”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83680" y="5422392"/>
            <a:ext cx="4892040" cy="402336"/>
          </a:xfrm>
          <a:prstGeom prst="roundRect">
            <a:avLst>
              <a:gd name="adj" fmla="val 13636"/>
            </a:avLst>
          </a:prstGeom>
          <a:solidFill>
            <a:srgbClr val="0F1626"/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0840" y="550468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⚑  5. Money transfer — “transfer all your money”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· Counterfeit Currency Agent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5486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9 forensic features per RBI genuine-note spec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Each check shows its MEASUREMENT and THRESHOLD — a teller sees WHY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OCR denomination gate blocks a ₹500 analysed as ₹100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Invalid serial = reject; measured UV-absence never clears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Tap any denomination or the real-vs-fake gallery to scan live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45720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718304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02920" y="54132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accepted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45720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4718304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37560" y="54132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Wrongly rejected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123444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463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FORENSIC BREAKDOWN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66560" y="1828800"/>
            <a:ext cx="1097280" cy="1097280"/>
          </a:xfrm>
          <a:prstGeom prst="ellipse">
            <a:avLst/>
          </a:prstGeom>
          <a:solidFill>
            <a:srgbClr val="24304A"/>
          </a:solidFill>
          <a:ln/>
        </p:spPr>
      </p:sp>
      <p:sp>
        <p:nvSpPr>
          <p:cNvPr id="15" name="Shape 13"/>
          <p:cNvSpPr/>
          <p:nvPr/>
        </p:nvSpPr>
        <p:spPr>
          <a:xfrm>
            <a:off x="6876288" y="1938528"/>
            <a:ext cx="877824" cy="877824"/>
          </a:xfrm>
          <a:prstGeom prst="ellipse">
            <a:avLst/>
          </a:prstGeom>
          <a:solidFill>
            <a:srgbClr val="0A0F1B"/>
          </a:solidFill>
          <a:ln/>
        </p:spPr>
      </p:sp>
      <p:sp>
        <p:nvSpPr>
          <p:cNvPr id="16" name="Shape 14"/>
          <p:cNvSpPr/>
          <p:nvPr/>
        </p:nvSpPr>
        <p:spPr>
          <a:xfrm>
            <a:off x="6766560" y="1828800"/>
            <a:ext cx="1097280" cy="1097280"/>
          </a:xfrm>
          <a:prstGeom prst="pie">
            <a:avLst>
              <a:gd name="adj1" fmla="val 0"/>
              <a:gd name="adj2" fmla="val 20520000"/>
            </a:avLst>
          </a:prstGeom>
          <a:solidFill>
            <a:srgbClr val="2ECC71"/>
          </a:solidFill>
          <a:ln/>
        </p:spPr>
      </p:sp>
      <p:sp>
        <p:nvSpPr>
          <p:cNvPr id="17" name="Shape 15"/>
          <p:cNvSpPr/>
          <p:nvPr/>
        </p:nvSpPr>
        <p:spPr>
          <a:xfrm>
            <a:off x="6912864" y="1975104"/>
            <a:ext cx="804672" cy="804672"/>
          </a:xfrm>
          <a:prstGeom prst="ellipse">
            <a:avLst/>
          </a:prstGeom>
          <a:solidFill>
            <a:srgbClr val="0A0F1B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2176272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92440" y="2148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GENUINE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0924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₹500 · authenticity 95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83680" y="3383280"/>
            <a:ext cx="306141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Aspect ratio / dimensions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743846" y="3438144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1A2333"/>
          </a:solidFill>
          <a:ln/>
        </p:spPr>
      </p:sp>
      <p:sp>
        <p:nvSpPr>
          <p:cNvPr id="23" name="Shape 21"/>
          <p:cNvSpPr/>
          <p:nvPr/>
        </p:nvSpPr>
        <p:spPr>
          <a:xfrm>
            <a:off x="9743846" y="3438144"/>
            <a:ext cx="1155436" cy="128016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80038" y="3383280"/>
            <a:ext cx="29626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78%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583680" y="3721608"/>
            <a:ext cx="306141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Base colour match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743846" y="3776472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1A2333"/>
          </a:solidFill>
          <a:ln/>
        </p:spPr>
      </p:sp>
      <p:sp>
        <p:nvSpPr>
          <p:cNvPr id="27" name="Shape 25"/>
          <p:cNvSpPr/>
          <p:nvPr/>
        </p:nvSpPr>
        <p:spPr>
          <a:xfrm>
            <a:off x="9743846" y="3776472"/>
            <a:ext cx="1318382" cy="128016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80038" y="3721608"/>
            <a:ext cx="29626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89%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83680" y="4059936"/>
            <a:ext cx="306141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Microprint sharpness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743846" y="4114800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1A2333"/>
          </a:solidFill>
          <a:ln/>
        </p:spPr>
      </p:sp>
      <p:sp>
        <p:nvSpPr>
          <p:cNvPr id="31" name="Shape 29"/>
          <p:cNvSpPr/>
          <p:nvPr/>
        </p:nvSpPr>
        <p:spPr>
          <a:xfrm>
            <a:off x="9743846" y="4114800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/>
        </p:spPr>
      </p:sp>
      <p:sp>
        <p:nvSpPr>
          <p:cNvPr id="32" name="Text 30"/>
          <p:cNvSpPr/>
          <p:nvPr/>
        </p:nvSpPr>
        <p:spPr>
          <a:xfrm>
            <a:off x="11280038" y="4059936"/>
            <a:ext cx="29626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583680" y="4398264"/>
            <a:ext cx="306141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Security thread signature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743846" y="4453128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1A2333"/>
          </a:solidFill>
          <a:ln/>
        </p:spPr>
      </p:sp>
      <p:sp>
        <p:nvSpPr>
          <p:cNvPr id="35" name="Shape 33"/>
          <p:cNvSpPr/>
          <p:nvPr/>
        </p:nvSpPr>
        <p:spPr>
          <a:xfrm>
            <a:off x="9743846" y="4453128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/>
        </p:spPr>
      </p:sp>
      <p:sp>
        <p:nvSpPr>
          <p:cNvPr id="36" name="Text 34"/>
          <p:cNvSpPr/>
          <p:nvPr/>
        </p:nvSpPr>
        <p:spPr>
          <a:xfrm>
            <a:off x="11280038" y="4398264"/>
            <a:ext cx="29626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583680" y="4736592"/>
            <a:ext cx="306141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Intaglio print texture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743846" y="4791456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1A2333"/>
          </a:solidFill>
          <a:ln/>
        </p:spPr>
      </p:sp>
      <p:sp>
        <p:nvSpPr>
          <p:cNvPr id="39" name="Shape 37"/>
          <p:cNvSpPr/>
          <p:nvPr/>
        </p:nvSpPr>
        <p:spPr>
          <a:xfrm>
            <a:off x="9743846" y="4791456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/>
        </p:spPr>
      </p:sp>
      <p:sp>
        <p:nvSpPr>
          <p:cNvPr id="40" name="Text 38"/>
          <p:cNvSpPr/>
          <p:nvPr/>
        </p:nvSpPr>
        <p:spPr>
          <a:xfrm>
            <a:off x="11280038" y="4736592"/>
            <a:ext cx="29626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83680" y="5074920"/>
            <a:ext cx="306141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RBI serial grammar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743846" y="5129784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1A2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9743846" y="5129784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/>
        </p:spPr>
      </p:sp>
      <p:sp>
        <p:nvSpPr>
          <p:cNvPr id="44" name="Text 42"/>
          <p:cNvSpPr/>
          <p:nvPr/>
        </p:nvSpPr>
        <p:spPr>
          <a:xfrm>
            <a:off x="11280038" y="5074920"/>
            <a:ext cx="29626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583680" y="5413248"/>
            <a:ext cx="306141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4D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Watermark window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743846" y="5468112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1A2333"/>
          </a:solidFill>
          <a:ln/>
        </p:spPr>
      </p:sp>
      <p:sp>
        <p:nvSpPr>
          <p:cNvPr id="47" name="Shape 45"/>
          <p:cNvSpPr/>
          <p:nvPr/>
        </p:nvSpPr>
        <p:spPr>
          <a:xfrm>
            <a:off x="9743846" y="5468112"/>
            <a:ext cx="1259129" cy="128016"/>
          </a:xfrm>
          <a:prstGeom prst="roundRect">
            <a:avLst>
              <a:gd name="adj" fmla="val 50000"/>
            </a:avLst>
          </a:prstGeom>
          <a:solidFill>
            <a:srgbClr val="FF4D57"/>
          </a:solidFill>
          <a:ln/>
        </p:spPr>
      </p:sp>
      <p:sp>
        <p:nvSpPr>
          <p:cNvPr id="48" name="Text 46"/>
          <p:cNvSpPr/>
          <p:nvPr/>
        </p:nvSpPr>
        <p:spPr>
          <a:xfrm>
            <a:off x="11280038" y="5413248"/>
            <a:ext cx="29626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85%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583680" y="5751576"/>
            <a:ext cx="3061411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Colour-shift ink numeral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743846" y="5806440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1A2333"/>
          </a:solidFill>
          <a:ln/>
        </p:spPr>
      </p:sp>
      <p:sp>
        <p:nvSpPr>
          <p:cNvPr id="51" name="Shape 49"/>
          <p:cNvSpPr/>
          <p:nvPr/>
        </p:nvSpPr>
        <p:spPr>
          <a:xfrm>
            <a:off x="9743846" y="5806440"/>
            <a:ext cx="1481328" cy="128016"/>
          </a:xfrm>
          <a:prstGeom prst="roundRect">
            <a:avLst>
              <a:gd name="adj" fmla="val 50000"/>
            </a:avLst>
          </a:prstGeom>
          <a:solidFill>
            <a:srgbClr val="2ECC71"/>
          </a:solidFill>
          <a:ln/>
        </p:spPr>
      </p:sp>
      <p:sp>
        <p:nvSpPr>
          <p:cNvPr id="52" name="Text 50"/>
          <p:cNvSpPr/>
          <p:nvPr/>
        </p:nvSpPr>
        <p:spPr>
          <a:xfrm>
            <a:off x="11280038" y="5751576"/>
            <a:ext cx="29626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Fraud Network Graph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5486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Heterogeneous graph of victims, phones, mule accounts, UPI/wallet, devices, crypto exits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Connected components isolate gangs · centrality names the ringleader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Clauset-Newman-Moore community detection finds operational cells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Grounded with 1,000 real India UPI fraud cases (₹1.59 cr loss)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3840480"/>
            <a:ext cx="5486400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023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METRIC THAT MATTERS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4315968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~133 days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510235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projected lead time to 100 victims — the window to arrest the gang instead of processing 100 complaints. This is “detection before mass victimisation.”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1234440"/>
            <a:ext cx="5394960" cy="4937760"/>
          </a:xfrm>
          <a:prstGeom prst="roundRect">
            <a:avLst>
              <a:gd name="adj" fmla="val 2222"/>
            </a:avLst>
          </a:prstGeom>
          <a:solidFill>
            <a:srgbClr val="0A1018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7699248" y="2944368"/>
            <a:ext cx="1536192" cy="987552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 flipV="1">
            <a:off x="9235440" y="2834640"/>
            <a:ext cx="1280160" cy="1097280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 flipH="1">
            <a:off x="7406640" y="3931920"/>
            <a:ext cx="1828800" cy="457200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235440" y="3931920"/>
            <a:ext cx="1572768" cy="201168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 flipH="1">
            <a:off x="8494776" y="3931920"/>
            <a:ext cx="740664" cy="1179576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235440" y="3931920"/>
            <a:ext cx="731520" cy="1280160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 flipV="1">
            <a:off x="9235440" y="3456432"/>
            <a:ext cx="1810512" cy="475488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 flipH="1" flipV="1">
            <a:off x="8211312" y="2450592"/>
            <a:ext cx="1024128" cy="1481328"/>
          </a:xfrm>
          <a:prstGeom prst="line">
            <a:avLst/>
          </a:prstGeom>
          <a:noFill/>
          <a:ln w="19050">
            <a:solidFill>
              <a:srgbClr val="7A2A33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8915400" y="3611880"/>
            <a:ext cx="640080" cy="640080"/>
          </a:xfrm>
          <a:prstGeom prst="ellipse">
            <a:avLst/>
          </a:prstGeom>
          <a:solidFill>
            <a:srgbClr val="FF4D57">
              <a:alpha val="3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006840" y="3703320"/>
            <a:ext cx="457200" cy="457200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43800" y="2788920"/>
            <a:ext cx="310896" cy="31089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78440" y="2697480"/>
            <a:ext cx="274320" cy="27432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3" name="Shape 21"/>
          <p:cNvSpPr/>
          <p:nvPr/>
        </p:nvSpPr>
        <p:spPr>
          <a:xfrm>
            <a:off x="7269480" y="4251960"/>
            <a:ext cx="274320" cy="27432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52760" y="3977640"/>
            <a:ext cx="310896" cy="310896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Shape 23"/>
          <p:cNvSpPr/>
          <p:nvPr/>
        </p:nvSpPr>
        <p:spPr>
          <a:xfrm>
            <a:off x="8366760" y="4983480"/>
            <a:ext cx="256032" cy="25603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6" name="Shape 24"/>
          <p:cNvSpPr/>
          <p:nvPr/>
        </p:nvSpPr>
        <p:spPr>
          <a:xfrm>
            <a:off x="9829800" y="5074920"/>
            <a:ext cx="274320" cy="274320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27080" y="3337560"/>
            <a:ext cx="237744" cy="237744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8" name="Shape 26"/>
          <p:cNvSpPr/>
          <p:nvPr/>
        </p:nvSpPr>
        <p:spPr>
          <a:xfrm>
            <a:off x="8092440" y="2331720"/>
            <a:ext cx="237744" cy="237744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9" name="Text 27"/>
          <p:cNvSpPr/>
          <p:nvPr/>
        </p:nvSpPr>
        <p:spPr>
          <a:xfrm>
            <a:off x="8458200" y="313639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8A9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 RINGLEADER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37960" y="5806440"/>
            <a:ext cx="128016" cy="128016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57424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Victim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571232" y="5806440"/>
            <a:ext cx="128016" cy="128016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3" name="Text 31"/>
          <p:cNvSpPr/>
          <p:nvPr/>
        </p:nvSpPr>
        <p:spPr>
          <a:xfrm>
            <a:off x="7754112" y="57424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Mule a/c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604504" y="580644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5" name="Text 33"/>
          <p:cNvSpPr/>
          <p:nvPr/>
        </p:nvSpPr>
        <p:spPr>
          <a:xfrm>
            <a:off x="8787384" y="57424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UPI/wallet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637776" y="5806440"/>
            <a:ext cx="128016" cy="128016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7" name="Text 35"/>
          <p:cNvSpPr/>
          <p:nvPr/>
        </p:nvSpPr>
        <p:spPr>
          <a:xfrm>
            <a:off x="9820656" y="57424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Crypto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0671048" y="5806440"/>
            <a:ext cx="128016" cy="12801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9" name="Text 37"/>
          <p:cNvSpPr/>
          <p:nvPr/>
        </p:nvSpPr>
        <p:spPr>
          <a:xfrm>
            <a:off x="10853928" y="57424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Kingpin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· Geospatial Crime Intelligence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Command-centre map fuses hotspots with REAL NCRB “Crime in India 2022” data</a:t>
            </a:r>
            <a:endParaRPr lang="en-US" sz="12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Converts incidents into a ranked patrol-priority queue — where to deploy first</a:t>
            </a:r>
            <a:endParaRPr lang="en-US" sz="12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Inter-district intelligence sharing in near real time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356616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7947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4D5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59%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514600" y="388620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all Indian cybercrime is financial fraud — the exact threat Prahari targets across scam, UPI-graph and counterfeit modules.  (NCRB, real data)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309360" y="1234440"/>
          <a:ext cx="539496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2ECC7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· Citizen Fraud Shield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5486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Same engine, re-packaged for citizens: instant verdict + reasons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Answers ENTIRELY in the citizen’s language — pick हिन्दी, reply is pure Hindi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4 languages fully authored (EN · हिन्दी · தமிழ் · বাংলা) — no machine fallback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Live Call Guard walks a victim through the scam DURING the call</a:t>
            </a:r>
            <a:endParaRPr lang="en-US" sz="12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Guided 1930 / cybercrime.gov.in report, auto-filled with evidence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766560" y="1234440"/>
            <a:ext cx="4480560" cy="4937760"/>
          </a:xfrm>
          <a:prstGeom prst="roundRect">
            <a:avLst>
              <a:gd name="adj" fmla="val 3673"/>
            </a:avLst>
          </a:prstGeom>
          <a:solidFill>
            <a:srgbClr val="0A0F1A"/>
          </a:solidFill>
          <a:ln w="19050">
            <a:solidFill>
              <a:srgbClr val="243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1234440"/>
            <a:ext cx="4480560" cy="502920"/>
          </a:xfrm>
          <a:prstGeom prst="roundRect">
            <a:avLst>
              <a:gd name="adj" fmla="val 32727"/>
            </a:avLst>
          </a:prstGeom>
          <a:solidFill>
            <a:srgbClr val="11305A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0" y="1371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  Prahari Shield · हिन्दी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995160" y="1965960"/>
            <a:ext cx="3291840" cy="685800"/>
          </a:xfrm>
          <a:prstGeom prst="roundRect">
            <a:avLst>
              <a:gd name="adj" fmla="val 13333"/>
            </a:avLst>
          </a:prstGeom>
          <a:solidFill>
            <a:srgbClr val="16202F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0" y="207568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नमस्ते! किसी भी संदिग्ध कॉल या संदेश के बारे में बताइए।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818120" y="2788920"/>
            <a:ext cx="3246120" cy="777240"/>
          </a:xfrm>
          <a:prstGeom prst="roundRect">
            <a:avLst>
              <a:gd name="adj" fmla="val 11765"/>
            </a:avLst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0" y="289864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सीबीआई अधिकारी कह रहा है डिजिटल अरेस्ट है, पैसे ट्रांसफर करें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95160" y="3703320"/>
            <a:ext cx="3291840" cy="822960"/>
          </a:xfrm>
          <a:prstGeom prst="roundRect">
            <a:avLst>
              <a:gd name="adj" fmla="val 11111"/>
            </a:avLst>
          </a:prstGeom>
          <a:solidFill>
            <a:srgbClr val="16202F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0" y="3813048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यह धोखाधड़ी है। कोई पैसा ट्रांसफर न करें। 1930 पर कॉल करें।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95160" y="4663440"/>
            <a:ext cx="3291840" cy="1234440"/>
          </a:xfrm>
          <a:prstGeom prst="roundRect">
            <a:avLst>
              <a:gd name="adj" fmla="val 7407"/>
            </a:avLst>
          </a:prstGeom>
          <a:solidFill>
            <a:srgbClr val="16202F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4773168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मैं आपकी शिकायत भर सकता हूँ: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पैसे न भेजें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1930 पर कॉल करें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cybercrime.gov.in पर दर्ज करें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FF2D95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⚡ Intelligence Fusion — the differentiator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2801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moment a scam is confirmed, an agent works the whole case by itself — one incident flowing through every module in milliseconds, no human in the loop.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11155680" cy="676656"/>
          </a:xfrm>
          <a:prstGeom prst="roundRect">
            <a:avLst>
              <a:gd name="adj" fmla="val 10811"/>
            </a:avLst>
          </a:prstGeom>
          <a:solidFill>
            <a:srgbClr val="141C2E"/>
          </a:solidFill>
          <a:ln w="12700">
            <a:solidFill>
              <a:srgbClr val="FF4D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368296"/>
            <a:ext cx="237744" cy="237744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8" name="Shape 6"/>
          <p:cNvSpPr/>
          <p:nvPr/>
        </p:nvSpPr>
        <p:spPr>
          <a:xfrm>
            <a:off x="832104" y="2606040"/>
            <a:ext cx="0" cy="347472"/>
          </a:xfrm>
          <a:prstGeom prst="line">
            <a:avLst/>
          </a:prstGeom>
          <a:noFill/>
          <a:ln w="19050">
            <a:solidFill>
              <a:srgbClr val="FF4D57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188720" y="2231136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Scam classifier verdict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88720" y="25328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ACTIVE_SCAM · 95/100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607040" y="23317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ms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2953512"/>
            <a:ext cx="11155680" cy="676656"/>
          </a:xfrm>
          <a:prstGeom prst="roundRect">
            <a:avLst>
              <a:gd name="adj" fmla="val 10811"/>
            </a:avLst>
          </a:prstGeom>
          <a:solidFill>
            <a:srgbClr val="141C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3172968"/>
            <a:ext cx="237744" cy="23774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104" y="3410712"/>
            <a:ext cx="0" cy="347472"/>
          </a:xfrm>
          <a:prstGeom prst="line">
            <a:avLst/>
          </a:prstGeom>
          <a:noFill/>
          <a:ln w="19050">
            <a:solidFill>
              <a:srgbClr val="8B5CF6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188720" y="3035808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Fraud-graph cross-reference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88720" y="333756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caller = KINGPIN of CAMP-001 · 5 mules · ₹88 lakh at risk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607040" y="31363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ms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758184"/>
            <a:ext cx="11155680" cy="676656"/>
          </a:xfrm>
          <a:prstGeom prst="roundRect">
            <a:avLst>
              <a:gd name="adj" fmla="val 10811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977640"/>
            <a:ext cx="237744" cy="237744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0" name="Shape 18"/>
          <p:cNvSpPr/>
          <p:nvPr/>
        </p:nvSpPr>
        <p:spPr>
          <a:xfrm>
            <a:off x="832104" y="4215384"/>
            <a:ext cx="0" cy="347472"/>
          </a:xfrm>
          <a:prstGeom prst="line">
            <a:avLst/>
          </a:prstGeom>
          <a:noFill/>
          <a:ln w="19050">
            <a:solidFill>
              <a:srgbClr val="3EA6FF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188720" y="384048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Geospatial correlation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88720" y="414223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matched active Delhi cluster · patrol priority #1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607040" y="39410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0.2 ms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4562856"/>
            <a:ext cx="11155680" cy="676656"/>
          </a:xfrm>
          <a:prstGeom prst="roundRect">
            <a:avLst>
              <a:gd name="adj" fmla="val 10811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782312"/>
            <a:ext cx="237744" cy="23774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6" name="Shape 24"/>
          <p:cNvSpPr/>
          <p:nvPr/>
        </p:nvSpPr>
        <p:spPr>
          <a:xfrm>
            <a:off x="832104" y="5020056"/>
            <a:ext cx="0" cy="34747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1188720" y="464515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MHA / I4C alert packaged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88720" y="4946904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routed to I4C · TSP asked to hold outbound transfers 30 min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607040" y="474573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0.1 ms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5367528"/>
            <a:ext cx="11155680" cy="676656"/>
          </a:xfrm>
          <a:prstGeom prst="roundRect">
            <a:avLst>
              <a:gd name="adj" fmla="val 10811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5586984"/>
            <a:ext cx="237744" cy="23774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2" name="Text 30"/>
          <p:cNvSpPr/>
          <p:nvPr/>
        </p:nvSpPr>
        <p:spPr>
          <a:xfrm>
            <a:off x="1188720" y="544982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9EE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Sealed in tamper-evident ledger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188720" y="5751576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hash-chained · binds verdict + graph + geo · court-ready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607040" y="55504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0.4 ms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Full technology coverage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087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Computer Vision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60520" y="1527048"/>
            <a:ext cx="1680667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60520" y="1554480"/>
            <a:ext cx="1680667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/ experimental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Counterfeit forensics + deepfake/tamper screen (ELA, noise, micro-detail)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5087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Graph AI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784080" y="1527048"/>
            <a:ext cx="555955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0" y="1554480"/>
            <a:ext cx="5559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5080" y="20116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NetworkX communities, centrality, lead-time projection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29260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EA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NLP + LLM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160520" y="3127248"/>
            <a:ext cx="705917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60520" y="3154680"/>
            <a:ext cx="705917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hybrid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6118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engine + obfuscation normaliser + optional LLM second-opinion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26480" y="29260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3108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Speech AI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784080" y="3127248"/>
            <a:ext cx="930859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84080" y="3154680"/>
            <a:ext cx="930859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heuristic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355080" y="36118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Acoustic screener for cloned / TTS voices (pitch, pauses, spectral flatness)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45262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FF2D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709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2D9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Geospatial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4160520" y="4727448"/>
            <a:ext cx="555955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FF2D9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60520" y="4754880"/>
            <a:ext cx="5559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2D9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1520" y="52120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NCRB data → patrol optimisation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26480" y="452628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4709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EA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Phishing intel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784080" y="4727448"/>
            <a:ext cx="555955" cy="292608"/>
          </a:xfrm>
          <a:prstGeom prst="roundRect">
            <a:avLst>
              <a:gd name="adj" fmla="val 50000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84080" y="4754880"/>
            <a:ext cx="555955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55080" y="52120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 analysis — IP hosts, punycode, look-alike domains, allow-list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Measured performance — computed live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28016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360920" y="1463040"/>
            <a:ext cx="4343400" cy="4297680"/>
          </a:xfrm>
          <a:prstGeom prst="roundRect">
            <a:avLst>
              <a:gd name="adj" fmla="val 2128"/>
            </a:avLst>
          </a:prstGeom>
          <a:solidFill>
            <a:srgbClr val="141C2E"/>
          </a:solidFill>
          <a:ln w="19050">
            <a:solidFill>
              <a:srgbClr val="3E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66420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— real cases, unseen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8952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91.7%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589520" y="28803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recall at 0% false alarms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589520" y="338328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perfect score on self-generated data is circular. So we test on an independently-sourced set of scripts paraphrased from documented real cases — never seen by the detector — and report the lower, honest number separately.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89520" y="50749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show every misclassification in-app — no cherry-picking.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Counterfeit accuracy across denominations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6583680" cy="4572000"/>
          </a:xfrm>
          <a:prstGeom prst="roundRect">
            <a:avLst>
              <a:gd name="adj" fmla="val 2000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Mean authenticity score per denomination (genuine RBI notes)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2723998"/>
            <a:ext cx="658368" cy="2625242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431390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700784" y="2512771"/>
            <a:ext cx="658368" cy="2836469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609344" y="2220163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563624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32888" y="2497684"/>
            <a:ext cx="658368" cy="2851556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14" name="Text 12"/>
          <p:cNvSpPr/>
          <p:nvPr/>
        </p:nvSpPr>
        <p:spPr>
          <a:xfrm>
            <a:off x="2441448" y="2205076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94.5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395728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64992" y="2618384"/>
            <a:ext cx="658368" cy="2730856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3273552" y="2325776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90.5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27832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₹100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97096" y="2482596"/>
            <a:ext cx="658368" cy="2866644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4105656" y="2189988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059936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0" y="2497684"/>
            <a:ext cx="658368" cy="2851556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2205076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94.5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92040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₹500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61304" y="2452421"/>
            <a:ext cx="658368" cy="2896819"/>
          </a:xfrm>
          <a:prstGeom prst="roundRect">
            <a:avLst>
              <a:gd name="adj" fmla="val 5556"/>
            </a:avLst>
          </a:prstGeom>
          <a:solidFill>
            <a:srgbClr val="2ECC71"/>
          </a:solidFill>
          <a:ln/>
        </p:spPr>
      </p:sp>
      <p:sp>
        <p:nvSpPr>
          <p:cNvPr id="26" name="Text 24"/>
          <p:cNvSpPr/>
          <p:nvPr/>
        </p:nvSpPr>
        <p:spPr>
          <a:xfrm>
            <a:off x="5769864" y="2159813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724144" y="5422392"/>
            <a:ext cx="932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₹2000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" y="5349240"/>
            <a:ext cx="5916168" cy="0"/>
          </a:xfrm>
          <a:prstGeom prst="line">
            <a:avLst/>
          </a:prstGeom>
          <a:noFill/>
          <a:ln w="12700">
            <a:solidFill>
              <a:srgbClr val="2430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360920" y="1463040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1609344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100%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7360920" y="23042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accepted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601200" y="1463040"/>
            <a:ext cx="2103120" cy="1234440"/>
          </a:xfrm>
          <a:prstGeom prst="roundRect">
            <a:avLst>
              <a:gd name="adj" fmla="val 7407"/>
            </a:avLst>
          </a:prstGeom>
          <a:solidFill>
            <a:srgbClr val="141C2E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0" y="1609344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0%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9601200" y="23042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False-rejection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60920" y="2926080"/>
            <a:ext cx="4343400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89520" y="30906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Real-world stress test (195 mobile photos)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589520" y="35204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Controlled capture: 100% cleared, &lt;1% false-reject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Uncontrolled photos: ~63% cleared, ~32% → manual review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89520" y="461772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route uncertain notes to human review rather than claim accuracy we don’t have — the honest CNN/ViT justification.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2ECC7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Auditability &amp; privacy — court-defensible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Every verdict — scam, note, or gang — appends a hash-chained ledger entry</a:t>
            </a:r>
            <a:endParaRPr lang="en-US" sz="13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Each entry: module · model version · SHA-256 of input · verdict · timestamp</a:t>
            </a:r>
            <a:endParaRPr lang="en-US" sz="13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Editing any past entry breaks the chain and is instantly detectable</a:t>
            </a:r>
            <a:endParaRPr lang="en-US" sz="1300" dirty="0"/>
          </a:p>
          <a:p>
            <a:pPr algn="l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Inputs are HASHED, not stored — chain-of-custody without retaining PII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41C2E"/>
          </a:solidFill>
          <a:ln w="16510">
            <a:solidFill>
              <a:srgbClr val="FF4D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#1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4D5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4041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1bd9…c34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3159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 ✓ linked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35808" y="370332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29000" y="32004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41C2E"/>
          </a:solidFill>
          <a:ln w="1651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3337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#2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1188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counterfeit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11880" y="4041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df79…5e0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11880" y="43159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 ✓ linked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24728" y="370332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17920" y="32004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41C2E"/>
          </a:solidFill>
          <a:ln w="1651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337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#3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B5CF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fraud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4041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ae8b…d7a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0" y="43159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 ✓ linked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13648" y="3703320"/>
            <a:ext cx="3840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006840" y="32004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41C2E"/>
          </a:solidFill>
          <a:ln w="16510">
            <a:solidFill>
              <a:srgbClr val="FF2D9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89720" y="3337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#4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18972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2D9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fusion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89720" y="4041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3A1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909c…e2c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189720" y="43159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 ✓ linked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0080" y="507492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28523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Chain intact  —  “Editing any past entry breaks the chain.”  That is what turns detection into evidence.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Mapped 1:1 to the evaluation criteria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280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 CRITERION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0" y="128016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EVIDENCE (live in-app)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819656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Counterfeit accuracy across denominations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1691640"/>
            <a:ext cx="6172200" cy="822960"/>
          </a:xfrm>
          <a:prstGeom prst="roundRect">
            <a:avLst>
              <a:gd name="adj" fmla="val 7778"/>
            </a:avLst>
          </a:prstGeom>
          <a:solidFill>
            <a:srgbClr val="0F1626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1819656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acceptance · 0% false-reject · ₹10–₹2000 · per-feature breakdown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624328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52344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Digital-arrest precision &amp; recall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0" y="2624328"/>
            <a:ext cx="6172200" cy="822960"/>
          </a:xfrm>
          <a:prstGeom prst="roundRect">
            <a:avLst>
              <a:gd name="adj" fmla="val 7778"/>
            </a:avLst>
          </a:prstGeom>
          <a:solidFill>
            <a:srgbClr val="0F1626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0" y="2752344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/ 100% in-house · 100% / 91.7% held-out (real cases)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557016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685032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Fraud lead time before mass victimisation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3557016"/>
            <a:ext cx="6172200" cy="822960"/>
          </a:xfrm>
          <a:prstGeom prst="roundRect">
            <a:avLst>
              <a:gd name="adj" fmla="val 7778"/>
            </a:avLst>
          </a:prstGeom>
          <a:solidFill>
            <a:srgbClr val="0F1626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0" y="3685032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Days-to-100-victims KPI per campaign, from victims/day velocity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4489704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61772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Very low false-positive rate (citizens)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0" y="4489704"/>
            <a:ext cx="6172200" cy="822960"/>
          </a:xfrm>
          <a:prstGeom prst="roundRect">
            <a:avLst>
              <a:gd name="adj" fmla="val 7778"/>
            </a:avLst>
          </a:prstGeom>
          <a:solidFill>
            <a:srgbClr val="0F1626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0" y="4617720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0% FPR in-house · 0% held-out · genuine calls score SAFE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5422392"/>
            <a:ext cx="4800600" cy="822960"/>
          </a:xfrm>
          <a:prstGeom prst="roundRect">
            <a:avLst>
              <a:gd name="adj" fmla="val 7778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55040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9E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Auditability for legal admissibility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0" y="5422392"/>
            <a:ext cx="6172200" cy="822960"/>
          </a:xfrm>
          <a:prstGeom prst="roundRect">
            <a:avLst>
              <a:gd name="adj" fmla="val 7778"/>
            </a:avLst>
          </a:prstGeom>
          <a:solidFill>
            <a:srgbClr val="0F1626"/>
          </a:solidFill>
          <a:ln w="12700">
            <a:solidFill>
              <a:srgbClr val="243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5550408"/>
            <a:ext cx="5852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Glass-box phrase-level evidence + SHA-256 hash-chained ledger on every verdict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57200"/>
            <a:ext cx="146304" cy="384048"/>
          </a:xfrm>
          <a:prstGeom prst="roundRect">
            <a:avLst>
              <a:gd name="adj" fmla="val 18750"/>
            </a:avLst>
          </a:prstGeom>
          <a:solidFill>
            <a:srgbClr val="F5A62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20624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 limitations &amp;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i="1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treat limitations as a differentiator — judges reward candour.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0195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Counterfeit on messy photos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92024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Heuristic targets controlled capture; uncertain notes → manual review. Roadmap: CNN/ViT per ROI.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679192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98064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Speech &amp; deepfake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931920" y="2816352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as pipelines on constructed signals; presented as heuristic/experimental pending trained models.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575304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94176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Languages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931920" y="3712464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fully authored; more need verified native strings (no machine-guessed translations for a safety tool).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4471416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9028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Channels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931920" y="4608576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Web/app prototype; WhatsApp &amp; IVR call the same /api/shield/assess endpoint (integration-ready).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5367528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4864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931920" y="5504688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Fine-tuned models behind the same explainable interface; TSP/NPCI/NCRP connectors; PII tokenisation &amp; RBAC.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PRAHARI · Digital Public Safety Intelligence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F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200400"/>
            <a:ext cx="7315200" cy="7315200"/>
          </a:xfrm>
          <a:prstGeom prst="ellipse">
            <a:avLst/>
          </a:prstGeom>
          <a:solidFill>
            <a:srgbClr val="3EA6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EA6F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Prahari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3E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Catching fraud at the point of contact — not the point of complaint.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40233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41C2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ECC7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Explainable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4681728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verdict is court-admissible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80560" y="40233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41C2E"/>
          </a:solidFill>
          <a:ln w="12700">
            <a:solidFill>
              <a:srgbClr val="3E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EA6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Proven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709160" y="4681728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100%/100% · 91.7% on real held-out cases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402336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41C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5A62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66760" y="4681728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3A1B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report our misses and our limits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B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github.com/Ravianshu19/AI-for-Digital-Public-Safety   ·   runs offline at 127.0.0.1:8008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Prahari</dc:creator>
  <cp:lastModifiedBy>Prahari</cp:lastModifiedBy>
  <cp:revision>1</cp:revision>
  <dcterms:created xsi:type="dcterms:W3CDTF">2026-07-22T16:02:52Z</dcterms:created>
  <dcterms:modified xsi:type="dcterms:W3CDTF">2026-07-22T16:02:52Z</dcterms:modified>
</cp:coreProperties>
</file>